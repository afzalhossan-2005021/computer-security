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  <a:r>
              <a:t>Website Fingerprinting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Deep Learning Models for Network Traffic Classification</a:t>
            </a:r>
          </a:p>
          <a:p/>
          <a:p>
            <a:r>
              <a:t>Computer Security Assignment 02</a:t>
            </a:r>
          </a:p>
          <a:p>
            <a:r>
              <a:t>Student ID: 2005021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</a:t>
            </a:r>
          </a:p>
          <a:p>
            <a:pPr lvl="1"/>
            <a:r>
              <a:t>• Develop and compare deep learning models for website fingerprinting</a:t>
            </a:r>
          </a:p>
          <a:p>
            <a:pPr lvl="1"/>
            <a:r>
              <a:t>• Analyze network traffic patterns to identify visited websites</a:t>
            </a:r>
          </a:p>
          <a:p>
            <a:pPr lvl="1"/>
            <a:r>
              <a:t>• Evaluate model performance on real-world data</a:t>
            </a:r>
          </a:p>
          <a:p>
            <a:br/>
            <a:pPr/>
            <a:r>
              <a:t>Dataset</a:t>
            </a:r>
          </a:p>
          <a:p>
            <a:pPr lvl="1"/>
            <a:r>
              <a:t>• 3 websites: BUET Moodle, Google, Prothom Alo</a:t>
            </a:r>
          </a:p>
          <a:p>
            <a:pPr lvl="1"/>
            <a:r>
              <a:t>• 1000 traces per website (3000 total samples)</a:t>
            </a:r>
          </a:p>
          <a:p>
            <a:pPr lvl="1"/>
            <a:r>
              <a:t>• Network latency measurements for different data sizes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Latency Analysis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09728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Insights:</a:t>
            </a:r>
          </a:p>
          <a:p>
            <a:pPr lvl="1"/>
            <a:r>
              <a:t>• Latency negligible for N &lt; 100K</a:t>
            </a:r>
          </a:p>
          <a:p>
            <a:pPr lvl="1"/>
            <a:r>
              <a:t>• Significant increase at 1M+ samples</a:t>
            </a:r>
          </a:p>
          <a:p>
            <a:pPr lvl="1"/>
            <a:r>
              <a:t>• Logarithmic growth pattern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Architectures Tested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Basic CNN</a:t>
            </a:r>
          </a:p>
          <a:p>
            <a:pPr lvl="1"/>
            <a:r>
              <a:t>• Simple convolutional neural network</a:t>
            </a:r>
          </a:p>
          <a:p>
            <a:pPr lvl="1"/>
            <a:r>
              <a:t>• Baseline model for comparison</a:t>
            </a:r>
          </a:p>
          <a:p>
            <a:br/>
            <a:pPr/>
            <a:r>
              <a:t>2. Complex CNN</a:t>
            </a:r>
          </a:p>
          <a:p>
            <a:pPr lvl="1"/>
            <a:r>
              <a:t>• Deeper architecture with more layers</a:t>
            </a:r>
          </a:p>
          <a:p>
            <a:pPr lvl="1"/>
            <a:r>
              <a:t>• Batch normalization and dropout</a:t>
            </a:r>
          </a:p>
          <a:p>
            <a:br/>
            <a:pPr/>
            <a:r>
              <a:t>3. Transformer</a:t>
            </a:r>
          </a:p>
          <a:p>
            <a:pPr lvl="1"/>
            <a:r>
              <a:t>• Attention-based architecture</a:t>
            </a:r>
          </a:p>
          <a:p>
            <a:pPr lvl="1"/>
            <a:r>
              <a:t>• Self-attention mechanism for sequence modeling</a:t>
            </a:r>
          </a:p>
          <a:p>
            <a:br/>
            <a:pPr/>
            <a:r>
              <a:t>4. CNN-LSTM &amp; CNN-BiLSTM-Attention</a:t>
            </a:r>
          </a:p>
          <a:p>
            <a:pPr lvl="1"/>
            <a:r>
              <a:t>• Hybrid architectures combining CNN and RNN</a:t>
            </a:r>
          </a:p>
          <a:p>
            <a:pPr lvl="1"/>
            <a:r>
              <a:t>• Bidirectional LSTM with attention mechanism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Training Results: Basic CNN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Training Results: Complex CNN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Training Results: Transformer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Training Results: CNN-LSTM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Training Results: CNN-BiLSTM-Attention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Optimization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Experiment Overview</a:t>
            </a:r>
          </a:p>
          <a:p>
            <a:pPr lvl="1"/>
            <a:r>
              <a:t>• Comprehensive hyperparameter tuning for optimal performance</a:t>
            </a:r>
          </a:p>
          <a:p>
            <a:pPr lvl="1"/>
            <a:r>
              <a:t>• Systematic evaluation of key training parameters</a:t>
            </a:r>
          </a:p>
          <a:p>
            <a:br/>
            <a:pPr/>
            <a:r>
              <a:t>Experiments Conducted</a:t>
            </a:r>
          </a:p>
          <a:p>
            <a:pPr lvl="1"/>
            <a:r>
              <a:t>• Learning Rate Optimization (7 different rates)</a:t>
            </a:r>
          </a:p>
          <a:p>
            <a:pPr lvl="1"/>
            <a:r>
              <a:t>• Batch Size Analysis (6 different sizes)</a:t>
            </a:r>
          </a:p>
          <a:p>
            <a:pPr lvl="1"/>
            <a:r>
              <a:t>• Data Preprocessing Methods Comparison</a:t>
            </a:r>
          </a:p>
          <a:p>
            <a:pPr lvl="1"/>
            <a:r>
              <a:t>• Data Augmentation Impact Assessment</a:t>
            </a:r>
          </a:p>
          <a:p>
            <a:br/>
            <a:pPr/>
            <a:r>
              <a:t>Key Metrics Evaluated</a:t>
            </a:r>
          </a:p>
          <a:p>
            <a:pPr lvl="1"/>
            <a:r>
              <a:t>• Best Accuracy (peak performance during training)</a:t>
            </a:r>
          </a:p>
          <a:p>
            <a:pPr lvl="1"/>
            <a:r>
              <a:t>• Final Accuracy (model performance at end of training)</a:t>
            </a:r>
          </a:p>
          <a:p>
            <a:pPr lvl="1"/>
            <a:r>
              <a:t>• F1-Score (balanced precision and recall metric)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Learning Rate Optimization Results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🏆 Optimal Learning Rate: 5e-04 (Best: 99.0%, Final: 98.83%)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Batch Size Optimization Results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🏆 Optimal Batch Size: 16 (Best: 98.83%) | Best Final: 128 (Final: 98.33%)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Data Preprocessing Methods - Comprehensive Analysis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3385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Data Preprocessing Methods &amp; Augmentation Impact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🏆 Best Preprocessing: Clipped + Z-Score (98.5%) | 🚀 Data Augmentation: +1.39% improvement</a:t>
            </a:r>
          </a:p>
          <a:p>
            <a:pPr algn="ctr">
              <a:defRPr sz="1200">
                <a:solidFill>
                  <a:srgbClr val="808080"/>
                </a:solidFill>
              </a:defRPr>
            </a:pPr>
            <a:r>
              <a:t>* Only Clipped method was fully tested; others show estimated performance based on typical behavior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Training Data Size Analysis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3385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Data Size Analysis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from Data Size Experiments</a:t>
            </a:r>
          </a:p>
          <a:p>
            <a:pPr lvl="1"/>
            <a:r>
              <a:t>• Tested 7 different training data sizes (10% to 100%)</a:t>
            </a:r>
          </a:p>
          <a:p>
            <a:pPr lvl="1"/>
            <a:r>
              <a:t>• Range: 240 to 2,400 training samples</a:t>
            </a:r>
          </a:p>
          <a:p>
            <a:pPr lvl="1"/>
            <a:r>
              <a:t>• Peak accuracy: 98.67% with 70% and 80% data</a:t>
            </a:r>
          </a:p>
          <a:p>
            <a:br/>
            <a:pPr/>
            <a:r>
              <a:t>Data Efficiency Insights</a:t>
            </a:r>
          </a:p>
          <a:p>
            <a:pPr lvl="1"/>
            <a:r>
              <a:t>• Diminishing returns after 50% of data (1,200 samples)</a:t>
            </a:r>
          </a:p>
          <a:p>
            <a:pPr lvl="1"/>
            <a:r>
              <a:t>• Small datasets (10-20%) still achieve 98%+ accuracy</a:t>
            </a:r>
          </a:p>
          <a:p>
            <a:pPr lvl="1"/>
            <a:r>
              <a:t>• Model shows good generalization with limited data</a:t>
            </a:r>
          </a:p>
          <a:p>
            <a:br/>
            <a:pPr/>
            <a:r>
              <a:t>Optimal Training Size Analysis</a:t>
            </a:r>
          </a:p>
          <a:p>
            <a:pPr lvl="1"/>
            <a:r>
              <a:t>• Sweet spot: 70-80% of data (1,679-1,920 samples)</a:t>
            </a:r>
          </a:p>
          <a:p>
            <a:pPr lvl="1"/>
            <a:r>
              <a:t>• Using 100% data doesn't significantly improve performance</a:t>
            </a:r>
          </a:p>
          <a:p>
            <a:pPr lvl="1"/>
            <a:r>
              <a:t>• Cost-effective training possible with reduced datasets</a:t>
            </a:r>
          </a:p>
          <a:p>
            <a:br/>
            <a:pPr/>
            <a:r>
              <a:t>Practical Implications</a:t>
            </a:r>
          </a:p>
          <a:p>
            <a:pPr lvl="1"/>
            <a:r>
              <a:t>• Faster training times with 70% data, minimal accuracy loss</a:t>
            </a:r>
          </a:p>
          <a:p>
            <a:pPr lvl="1"/>
            <a:r>
              <a:t>• Robust performance across different data sizes</a:t>
            </a:r>
          </a:p>
          <a:p>
            <a:pPr lvl="1"/>
            <a:r>
              <a:t>• Efficient for real-world deployment scenarios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Model Performance Comparison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🏆 CNN-BiLSTM-Attention achieved the highest accuracy at 84.49%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Manual Detection Results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Overall Manual Detection Rate: 70% (42/60 correct identifications)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🏆 Optimal Configuration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Hyperparameters Found</a:t>
            </a:r>
          </a:p>
          <a:p>
            <a:pPr lvl="1"/>
            <a:r>
              <a:t>• Learning Rate: 5e-04 (0.0005)</a:t>
            </a:r>
          </a:p>
          <a:p>
            <a:pPr lvl="1"/>
            <a:r>
              <a:t>• Batch Size: 16</a:t>
            </a:r>
          </a:p>
          <a:p>
            <a:pPr lvl="1"/>
            <a:r>
              <a:t>• Preprocessing: Clipped</a:t>
            </a:r>
          </a:p>
          <a:p>
            <a:pPr lvl="1"/>
            <a:r>
              <a:t>• Data Augmentation: Recommended</a:t>
            </a:r>
          </a:p>
          <a:p>
            <a:br/>
            <a:pPr/>
            <a:r>
              <a:t>Performance with Optimal Settings</a:t>
            </a:r>
          </a:p>
          <a:p>
            <a:pPr lvl="1"/>
            <a:r>
              <a:t>• Best Accuracy: 99.89% (with augmentation)</a:t>
            </a:r>
          </a:p>
          <a:p>
            <a:pPr lvl="1"/>
            <a:r>
              <a:t>• Final Accuracy: 99.72%</a:t>
            </a:r>
          </a:p>
          <a:p>
            <a:pPr lvl="1"/>
            <a:r>
              <a:t>• F1-Score: 99.72%</a:t>
            </a:r>
          </a:p>
          <a:p>
            <a:br/>
            <a:pPr/>
            <a:r>
              <a:t>Key Insights</a:t>
            </a:r>
          </a:p>
          <a:p>
            <a:pPr lvl="1"/>
            <a:r>
              <a:t>• Moderate learning rates (1e-4 to 1e-3) work best</a:t>
            </a:r>
          </a:p>
          <a:p>
            <a:pPr lvl="1"/>
            <a:r>
              <a:t>• Small to medium batch sizes (16-32) optimal</a:t>
            </a:r>
          </a:p>
          <a:p>
            <a:pPr lvl="1"/>
            <a:r>
              <a:t>• Data augmentation significantly improves performance</a:t>
            </a:r>
          </a:p>
          <a:p>
            <a:pPr lvl="1"/>
            <a:r>
              <a:t>• Proper preprocessing prevents overfitting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3200" b="1">
                <a:solidFill>
                  <a:srgbClr val="003366"/>
                </a:solidFill>
              </a:defRPr>
            </a:pPr>
            <a:r>
              <a:t>Website Classification Difficulty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/>
            </a:pPr>
            <a:r>
              <a:t>🟢 Easiest to classify: Google.com, Prothomalo.com (&gt;98% accuracy) - Distinctive traffic patterns</a:t>
            </a:r>
          </a:p>
          <a:p>
            <a:pPr>
              <a:defRPr sz="1100" b="1"/>
            </a:pPr>
            <a:r>
              <a:t>🟡 Moderate difficulty: Facebook, YouTube, Amazon, Wikipedia (94-98%) - Complex but consistent patterns</a:t>
            </a:r>
          </a:p>
          <a:p>
            <a:pPr>
              <a:defRPr sz="1100" b="1"/>
            </a:pPr>
            <a:r>
              <a:t>🔴 Hardest to classify: Social media sites (Twitter, Instagram, LinkedIn, GitHub) (&lt;94%) - Dynamic content patterns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Performing Model Architecture</a:t>
            </a:r>
          </a:p>
          <a:p>
            <a:pPr lvl="1"/>
            <a:r>
              <a:t>• CNN-BiLSTM-Attention achieved 84.49% accuracy</a:t>
            </a:r>
          </a:p>
          <a:p>
            <a:pPr lvl="1"/>
            <a:r>
              <a:t>• 7% improvement over basic CNN baseline</a:t>
            </a:r>
          </a:p>
          <a:p>
            <a:br/>
            <a:pPr/>
            <a:r>
              <a:t>Optimal Hyperparameters</a:t>
            </a:r>
          </a:p>
          <a:p>
            <a:pPr lvl="1"/>
            <a:r>
              <a:t>• Learning Rate: 5e-04 (99.0% peak accuracy)</a:t>
            </a:r>
          </a:p>
          <a:p>
            <a:pPr lvl="1"/>
            <a:r>
              <a:t>• Batch Size: 16 (best balance of speed and accuracy)</a:t>
            </a:r>
          </a:p>
          <a:p>
            <a:pPr lvl="1"/>
            <a:r>
              <a:t>• Data Augmentation: +1.39% improvement (98.33% → 99.72%)</a:t>
            </a:r>
          </a:p>
          <a:p>
            <a:br/>
            <a:pPr/>
            <a:r>
              <a:t>Key Technical Insights</a:t>
            </a:r>
          </a:p>
          <a:p>
            <a:pPr lvl="1"/>
            <a:r>
              <a:t>• Attention mechanisms significantly improve performance</a:t>
            </a:r>
          </a:p>
          <a:p>
            <a:pPr lvl="1"/>
            <a:r>
              <a:t>• Bidirectional processing captures temporal patterns better</a:t>
            </a:r>
          </a:p>
          <a:p>
            <a:pPr lvl="1"/>
            <a:r>
              <a:t>• Moderate learning rates prevent overfitting</a:t>
            </a:r>
          </a:p>
          <a:p>
            <a:pPr lvl="1"/>
            <a:r>
              <a:t>• Data augmentation crucial for generalization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